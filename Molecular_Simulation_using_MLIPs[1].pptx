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Merriweather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4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9400" y="0"/>
            <a:ext cx="12192000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 r="-654"/>
          <a:stretch/>
        </p:blipFill>
        <p:spPr>
          <a:xfrm>
            <a:off x="-273887" y="-86500"/>
            <a:ext cx="12580976" cy="70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19550" y="823800"/>
            <a:ext cx="10667400" cy="13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Molecular Simulation using Machine Learning Interatomic Potentials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21599" y="2528650"/>
            <a:ext cx="11062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761D"/>
                </a:solidFill>
                <a:latin typeface="DM Sans"/>
                <a:ea typeface="DM Sans"/>
                <a:cs typeface="DM Sans"/>
                <a:sym typeface="DM Sans"/>
              </a:rPr>
              <a:t>EXPLORING THE DEEPMD-KIT FRAMEWORK | Bachelor Thesis Project (JULY - NOV 2025)</a:t>
            </a:r>
            <a:endParaRPr sz="1600" b="1" dirty="0">
              <a:solidFill>
                <a:srgbClr val="38761D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69200" y="3760300"/>
            <a:ext cx="1106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Student: Vanshita Bihani (Roll No. 220107093)</a:t>
            </a:r>
            <a:endParaRPr sz="1800" b="1">
              <a:solidFill>
                <a:srgbClr val="0B5394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69025" y="4194400"/>
            <a:ext cx="10417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Supervisor: Prof. Amit Kumar</a:t>
            </a:r>
            <a:endParaRPr sz="1800" b="1">
              <a:solidFill>
                <a:srgbClr val="0B5394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9025" y="4628499"/>
            <a:ext cx="1106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Department of Chemical Engineering, IIT Guwahati</a:t>
            </a:r>
            <a:endParaRPr sz="1800" b="1">
              <a:solidFill>
                <a:srgbClr val="0B5394"/>
              </a:solidFill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96200" y="823788"/>
            <a:ext cx="1146700" cy="1149137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8312"/>
            <a:ext cx="54768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38312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95375" y="1518046"/>
            <a:ext cx="4762500" cy="10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Domain: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Molecular Dynamics (MD) simulations for predicting material properties at the atomic scale.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095375" y="2742604"/>
            <a:ext cx="4762500" cy="611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Current Challenge: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The trade-off between efficiency and accuracy.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95375" y="5201245"/>
            <a:ext cx="47625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Scope: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Validate Deep Potential (MLIP) to bridge this gap, using Methane (CH4) as a case study for stiff bonds and weak dispersion.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714500" y="3479601"/>
            <a:ext cx="4143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Classical Force Fields are fast but chemically inaccurate.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714500" y="4340423"/>
            <a:ext cx="414337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Ab Initio MD (AIMD) is accurate but computationally prohibitive (O(N^3)).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1537096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73307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522029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1125" y="349865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1125" y="4359473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014537"/>
            <a:ext cx="36195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014537"/>
            <a:ext cx="36195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014537"/>
            <a:ext cx="36195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90550" y="2986087"/>
            <a:ext cx="320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Current Practice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" y="3443287"/>
            <a:ext cx="3048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Researchers rely on Classical Force Fields (AMBER/CHARMM) for large systems or AIMD for small, reactive clusters. Neither scales well for accurate transport properties.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495800" y="2986087"/>
            <a:ext cx="320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Insufficient?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572000" y="3443287"/>
            <a:ext cx="3048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Classical models cannot capture bond breaking or polarization. AIMD is limited to picoseconds, failing to capture diffusion and thermal conductivity in bulk liquids.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01050" y="2986087"/>
            <a:ext cx="3200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Use Case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77250" y="3443287"/>
            <a:ext cx="30480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Methane (CH4) is challenging: it has stiff intramolecular covalent bonds requiring quantum accuracy, but interacts inter-molecularly via weak Van der Waals forces.</a:t>
            </a:r>
            <a:endParaRPr dirty="0"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24062" y="23479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0" y="23479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10750" y="23479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 &amp; Motivation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57439"/>
            <a:ext cx="114300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095375" y="2167235"/>
            <a:ext cx="10715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Theoretical Foundation: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Review the evolution from empirical Force Fields to Neural Network Potentials.</a:t>
            </a:r>
            <a:endParaRPr>
              <a:solidFill>
                <a:srgbClr val="1E293B"/>
              </a:solidFill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095375" y="2692896"/>
            <a:ext cx="10715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Implementation: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Establish a "Data-to-Discovery" pipeline using DeepMD-kit for training and LAMMPS for simulation.</a:t>
            </a:r>
            <a:endParaRPr>
              <a:solidFill>
                <a:srgbClr val="1E293B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095375" y="3553717"/>
            <a:ext cx="10715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Validation: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Assess the model's accuracy on Methane's structural (bond length) and transport properties (Diffusion, Conductivity).</a:t>
            </a:r>
            <a:endParaRPr>
              <a:solidFill>
                <a:srgbClr val="1E293B"/>
              </a:solidFill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19125" y="4947939"/>
            <a:ext cx="11001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latin typeface="DM Sans"/>
                <a:ea typeface="DM Sans"/>
                <a:cs typeface="DM Sans"/>
                <a:sym typeface="DM Sans"/>
              </a:rPr>
              <a:t>Primary Objective: Demonstrate that Deep Potential can bridge the gap between quantum accuracy and classical efficiency for complex fluids.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381000" y="381000"/>
            <a:ext cx="11811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5394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Objectives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18628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711946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72767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81000" y="971550"/>
            <a:ext cx="114300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8312"/>
            <a:ext cx="54768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386262"/>
            <a:ext cx="54768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381000" y="1776412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Evolution of Potentials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738312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52450" y="22717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19125" y="2271712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Classical (AMBER/CHARMM):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Efficient (O(N)), but rigid and non-reactive.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552450" y="2881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19125" y="28813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Reactive (ReaxFF):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Handles chemistry, but requires complex parameter fitting.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52450" y="34909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19125" y="34909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Neural Networks (BPNN/DP):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Learn the Potential Energy Surface directly from quantum data.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19125" y="4576762"/>
            <a:ext cx="50482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Selection:</a:t>
            </a:r>
            <a:r>
              <a:rPr lang="en-US" sz="1500" b="0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We chose </a:t>
            </a:r>
            <a:r>
              <a:rPr lang="en-US" sz="1500" b="1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DeepPot-SE</a:t>
            </a:r>
            <a:r>
              <a:rPr lang="en-US" sz="1500" b="0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(Deep Potential Smooth Edition) because it offers the optimal balance of accuracy and inference speed required for nanosecond-scale transport simulations.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Review: Existing Approaches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83120"/>
            <a:ext cx="3041500" cy="2016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2551" y="3982280"/>
            <a:ext cx="2925100" cy="1938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3587" y="1619250"/>
            <a:ext cx="2730137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3713" y="4048133"/>
            <a:ext cx="2730125" cy="180974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01649" y="1690475"/>
            <a:ext cx="22002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Data Acquisition</a:t>
            </a:r>
            <a:endParaRPr sz="1800"/>
          </a:p>
        </p:txBody>
      </p:sp>
      <p:sp>
        <p:nvSpPr>
          <p:cNvPr id="176" name="Google Shape;176;p18"/>
          <p:cNvSpPr txBox="1"/>
          <p:nvPr/>
        </p:nvSpPr>
        <p:spPr>
          <a:xfrm>
            <a:off x="760700" y="2091125"/>
            <a:ext cx="2282100" cy="11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Collect high-fidelity Ab Initio (DFT) data for atomic configurations (Energies &amp; Forces).</a:t>
            </a:r>
            <a:endParaRPr sz="1800"/>
          </a:p>
        </p:txBody>
      </p:sp>
      <p:sp>
        <p:nvSpPr>
          <p:cNvPr id="177" name="Google Shape;177;p18"/>
          <p:cNvSpPr txBox="1"/>
          <p:nvPr/>
        </p:nvSpPr>
        <p:spPr>
          <a:xfrm>
            <a:off x="3339850" y="4206875"/>
            <a:ext cx="2590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Model Training</a:t>
            </a:r>
            <a:endParaRPr sz="1900"/>
          </a:p>
        </p:txBody>
      </p:sp>
      <p:sp>
        <p:nvSpPr>
          <p:cNvPr id="178" name="Google Shape;178;p18"/>
          <p:cNvSpPr txBox="1"/>
          <p:nvPr/>
        </p:nvSpPr>
        <p:spPr>
          <a:xfrm>
            <a:off x="3648975" y="4658550"/>
            <a:ext cx="2095500" cy="10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Train DeepPot-SE model using DeepMD-kit to map descriptors to potential energy.</a:t>
            </a:r>
            <a:endParaRPr sz="1700"/>
          </a:p>
        </p:txBody>
      </p:sp>
      <p:sp>
        <p:nvSpPr>
          <p:cNvPr id="179" name="Google Shape;179;p18"/>
          <p:cNvSpPr txBox="1"/>
          <p:nvPr/>
        </p:nvSpPr>
        <p:spPr>
          <a:xfrm>
            <a:off x="6315975" y="1821725"/>
            <a:ext cx="236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Compression</a:t>
            </a:r>
            <a:endParaRPr sz="1700"/>
          </a:p>
        </p:txBody>
      </p:sp>
      <p:sp>
        <p:nvSpPr>
          <p:cNvPr id="180" name="Google Shape;180;p18"/>
          <p:cNvSpPr txBox="1"/>
          <p:nvPr/>
        </p:nvSpPr>
        <p:spPr>
          <a:xfrm>
            <a:off x="6313414" y="2313200"/>
            <a:ext cx="25905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Compress the trained model graph to accelerate inference speed for MD.</a:t>
            </a:r>
            <a:endParaRPr sz="1800"/>
          </a:p>
        </p:txBody>
      </p:sp>
      <p:sp>
        <p:nvSpPr>
          <p:cNvPr id="181" name="Google Shape;181;p18"/>
          <p:cNvSpPr txBox="1"/>
          <p:nvPr/>
        </p:nvSpPr>
        <p:spPr>
          <a:xfrm>
            <a:off x="9119113" y="4222175"/>
            <a:ext cx="2439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MD Simulation</a:t>
            </a:r>
            <a:endParaRPr sz="1700"/>
          </a:p>
        </p:txBody>
      </p:sp>
      <p:sp>
        <p:nvSpPr>
          <p:cNvPr id="182" name="Google Shape;182;p18"/>
          <p:cNvSpPr txBox="1"/>
          <p:nvPr/>
        </p:nvSpPr>
        <p:spPr>
          <a:xfrm>
            <a:off x="9238450" y="4658550"/>
            <a:ext cx="23631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Run large-scale simulations in LAMMPS to calculate transport properties.</a:t>
            </a:r>
            <a:endParaRPr sz="1700"/>
          </a:p>
        </p:txBody>
      </p:sp>
      <p:sp>
        <p:nvSpPr>
          <p:cNvPr id="183" name="Google Shape;183;p18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Overall Workflow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733225" y="3158000"/>
            <a:ext cx="580200" cy="789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 rot="5400000">
            <a:off x="3246171" y="3283375"/>
            <a:ext cx="933000" cy="5802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 rot="5400000">
            <a:off x="8802725" y="3328900"/>
            <a:ext cx="882000" cy="540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562505"/>
            <a:ext cx="5953125" cy="3946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1285875"/>
            <a:ext cx="5476875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285875"/>
            <a:ext cx="5476875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771525" y="1676400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DeepPot-SE Architecture</a:t>
            </a:r>
            <a:endParaRPr/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5">
            <a:alphaModFix/>
          </a:blip>
          <a:srcRect l="-3403" t="-8002" r="-65088" b="-50778"/>
          <a:stretch/>
        </p:blipFill>
        <p:spPr>
          <a:xfrm>
            <a:off x="5634113" y="1342585"/>
            <a:ext cx="10084750" cy="629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381000" y="2638900"/>
            <a:ext cx="4695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model uses an </a:t>
            </a:r>
            <a:r>
              <a:rPr lang="en-US" sz="1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Embedding Network</a:t>
            </a: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to transform local atomic environments into symmetry-invariant descriptors. A </a:t>
            </a:r>
            <a:r>
              <a:rPr lang="en-US" sz="1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Fitting Network</a:t>
            </a: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(ResNet) then maps these descriptors to atomic energies. This ensures the potential is smooth and continuous.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214375" y="1771163"/>
            <a:ext cx="493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Simulation Setup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331675" y="2620200"/>
            <a:ext cx="4695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Integrator:</a:t>
            </a:r>
            <a:r>
              <a:rPr lang="en-US" sz="1500" b="0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Velocity Verlet with 0.1 fs timestep (for fast C-H vibrations).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331675" y="3377800"/>
            <a:ext cx="4695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Diffusion:</a:t>
            </a:r>
            <a:r>
              <a:rPr lang="en-US" sz="1500" b="0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Calculated via Einstein Relation (Mean Square Displacement).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331675" y="4135388"/>
            <a:ext cx="4695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Conductivity:</a:t>
            </a:r>
            <a:r>
              <a:rPr lang="en-US" sz="1500" b="0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Calculated via Green-Kubo relations (Heat Flux Autocorrelation).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381000" y="381000"/>
            <a:ext cx="11811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5394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Details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381000" y="971550"/>
            <a:ext cx="114300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8312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381000" y="1753790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Model Accuracy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381000" y="4065984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Microscopic Structure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381000" y="4599384"/>
            <a:ext cx="54768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Radial Distribution Function (RDF) shows a sharp peak at </a:t>
            </a: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1.1 Å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matching the experimental C-H bond length of </a:t>
            </a: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1.09 Å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 The model learned the "stiff spring" nature of the bond without explicit harmonic parameters.</a:t>
            </a:r>
            <a:endParaRPr/>
          </a:p>
        </p:txBody>
      </p:sp>
      <p:pic>
        <p:nvPicPr>
          <p:cNvPr id="216" name="Google Shape;21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38312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1095375" y="224909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Energy RMSE: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0.92 meV/atom (Chemical accuracy).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095375" y="3109912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Force RMSE: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121 meV/Å (Sufficient for dynamics).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381000" y="381000"/>
            <a:ext cx="11811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Structural Validation (Case Study)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26814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12896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DB3C316A-13D5-A7ED-5B44-B5ACA8FE00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1660818"/>
            <a:ext cx="5637150" cy="4363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738312"/>
            <a:ext cx="54768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1738312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6334125" y="1198364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Macroscopic Agreement</a:t>
            </a:r>
            <a:endParaRPr dirty="0"/>
          </a:p>
        </p:txBody>
      </p:sp>
      <p:sp>
        <p:nvSpPr>
          <p:cNvPr id="231" name="Google Shape;231;p21"/>
          <p:cNvSpPr txBox="1"/>
          <p:nvPr/>
        </p:nvSpPr>
        <p:spPr>
          <a:xfrm>
            <a:off x="6334125" y="1731764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Self-Diffusion Coefficient (D):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238875" y="2363010"/>
            <a:ext cx="547687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~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2.3 nm^2/s</a:t>
            </a:r>
            <a:endParaRPr dirty="0"/>
          </a:p>
        </p:txBody>
      </p:sp>
      <p:sp>
        <p:nvSpPr>
          <p:cNvPr id="233" name="Google Shape;233;p21"/>
          <p:cNvSpPr txBox="1"/>
          <p:nvPr/>
        </p:nvSpPr>
        <p:spPr>
          <a:xfrm>
            <a:off x="6334125" y="3621285"/>
            <a:ext cx="54768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This is remarkably close to the experimental value of 2.6</a:t>
            </a:r>
            <a:r>
              <a:rPr lang="en-US" sz="15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nm^2/s.</a:t>
            </a:r>
            <a:endParaRPr dirty="0"/>
          </a:p>
        </p:txBody>
      </p:sp>
      <p:sp>
        <p:nvSpPr>
          <p:cNvPr id="234" name="Google Shape;234;p21"/>
          <p:cNvSpPr txBox="1"/>
          <p:nvPr/>
        </p:nvSpPr>
        <p:spPr>
          <a:xfrm>
            <a:off x="6334125" y="4621410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Key Insight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334125" y="5154810"/>
            <a:ext cx="54768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Deep Potential model successfully captured weak intermolecular dispersion forces in the dense liquid phase, a property usually requiring complex Lennard-Jones tuning, while maintaining quantum accuracy.</a:t>
            </a:r>
            <a:endParaRPr dirty="0"/>
          </a:p>
        </p:txBody>
      </p:sp>
      <p:sp>
        <p:nvSpPr>
          <p:cNvPr id="236" name="Google Shape;236;p21"/>
          <p:cNvSpPr txBox="1"/>
          <p:nvPr/>
        </p:nvSpPr>
        <p:spPr>
          <a:xfrm>
            <a:off x="381000" y="293489"/>
            <a:ext cx="11811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Transport Properties &amp; Insights (Case Study)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381000" y="884039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676A318A-7BF3-837F-60C4-796D6FB0F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" y="1666524"/>
            <a:ext cx="5476875" cy="4429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1339" y="1133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1285875"/>
            <a:ext cx="5476875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85875"/>
            <a:ext cx="5476875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771525" y="1676400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724650" y="1676400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Work (BTP-II)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95350" y="2356238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962025" y="2314575"/>
            <a:ext cx="4505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Successfully established a data-to-discovery pipeline using DeepMD-kit.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828750" y="3097413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984138" y="3090450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Validated the model on Methane, reproducing both microscopic bond lengths and macroscopic transport coefficients.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95350" y="38385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962025" y="4235625"/>
            <a:ext cx="4505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Demonstrated that MLIPs can achieve "AIMD-quality" results at nanosecond timescales.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6848475" y="23145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6937263" y="2314575"/>
            <a:ext cx="4505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Active Learning:</a:t>
            </a: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Implement the DP-GEN loop to automate data exploration.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6848475" y="29241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6915150" y="3014888"/>
            <a:ext cx="4505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 Systems: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Extend simulations to natural gas mixtures (CH4/C</a:t>
            </a:r>
            <a:r>
              <a:rPr lang="en-US" sz="15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2H6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or interfaces.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848475" y="35337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539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6915150" y="3715200"/>
            <a:ext cx="4505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Reactivity:</a:t>
            </a:r>
            <a:r>
              <a:rPr lang="en-US"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Attempt high-temperature combustion simulations to test bond breaking.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381000" y="381000"/>
            <a:ext cx="11811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B5394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 &amp; Future Work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381000" y="884039"/>
            <a:ext cx="114300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/>
        </p:nvSpPr>
        <p:spPr>
          <a:xfrm>
            <a:off x="4602279" y="3186600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Thank You </a:t>
            </a:r>
            <a:r>
              <a:rPr lang="en-US" sz="3150" b="1" dirty="0">
                <a:solidFill>
                  <a:srgbClr val="005088"/>
                </a:solidFill>
                <a:latin typeface="Merriweather"/>
                <a:sym typeface="Wingdings" panose="05000000000000000000" pitchFamily="2" charset="2"/>
              </a:rPr>
              <a:t></a:t>
            </a:r>
            <a:endParaRPr dirty="0"/>
          </a:p>
        </p:txBody>
      </p:sp>
      <p:sp>
        <p:nvSpPr>
          <p:cNvPr id="284" name="Google Shape;284;p23"/>
          <p:cNvSpPr/>
          <p:nvPr/>
        </p:nvSpPr>
        <p:spPr>
          <a:xfrm>
            <a:off x="381000" y="9715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Office PowerPoint</Application>
  <PresentationFormat>Widescreen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DM Sans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Vanshita Bihani</cp:lastModifiedBy>
  <cp:revision>1</cp:revision>
  <dcterms:modified xsi:type="dcterms:W3CDTF">2026-02-04T14:06:58Z</dcterms:modified>
</cp:coreProperties>
</file>